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452"/>
    <p:restoredTop sz="94610"/>
  </p:normalViewPr>
  <p:slideViewPr>
    <p:cSldViewPr snapToGrid="0" snapToObjects="1">
      <p:cViewPr varScale="1">
        <p:scale>
          <a:sx n="199" d="100"/>
          <a:sy n="199" d="100"/>
        </p:scale>
        <p:origin x="176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4112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520440"/>
            <a:ext cx="9144000" cy="1623060"/>
          </a:xfrm>
          <a:prstGeom prst="rect">
            <a:avLst/>
          </a:prstGeom>
          <a:solidFill>
            <a:srgbClr val="08112A"/>
          </a:solidFill>
          <a:ln w="12700">
            <a:solidFill>
              <a:srgbClr val="0811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18872" cy="5143500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64008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Codex AI Agent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11480" y="16916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C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Agent-First Software Development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11480" y="3657600"/>
            <a:ext cx="8321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vs Copilot vs Codex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Agent-first development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mode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slash commands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Retail Data Warehouse (MSSQL)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Today's Agenda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097280" cy="50292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17220" y="1188720"/>
            <a:ext cx="1874520" cy="2651760"/>
          </a:xfrm>
          <a:prstGeom prst="rect">
            <a:avLst/>
          </a:prstGeom>
          <a:solidFill>
            <a:srgbClr val="141A35"/>
          </a:solidFill>
          <a:ln w="25400">
            <a:solidFill>
              <a:srgbClr val="546E7A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17220" y="1188720"/>
            <a:ext cx="1874520" cy="118872"/>
          </a:xfrm>
          <a:prstGeom prst="rect">
            <a:avLst/>
          </a:prstGeom>
          <a:solidFill>
            <a:srgbClr val="546E7A"/>
          </a:solidFill>
          <a:ln w="1270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08660" y="1371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46E7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08660" y="199339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ChatGPT vs Copilot vs Codex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00100" y="3017520"/>
            <a:ext cx="1508760" cy="36576"/>
          </a:xfrm>
          <a:prstGeom prst="rect">
            <a:avLst/>
          </a:prstGeom>
          <a:solidFill>
            <a:srgbClr val="546E7A"/>
          </a:solidFill>
          <a:ln w="1270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08660" y="3127248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the AI landscape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28900" y="1188720"/>
            <a:ext cx="1874520" cy="2651760"/>
          </a:xfrm>
          <a:prstGeom prst="rect">
            <a:avLst/>
          </a:prstGeom>
          <a:solidFill>
            <a:srgbClr val="141A35"/>
          </a:solidFill>
          <a:ln w="25400">
            <a:solidFill>
              <a:srgbClr val="5C6BC0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28900" y="1188720"/>
            <a:ext cx="1874520" cy="118872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20340" y="1371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C6BC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720340" y="199339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Agent-First Development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811780" y="3017520"/>
            <a:ext cx="1508760" cy="36576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720340" y="3127248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at every stage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40580" y="1188720"/>
            <a:ext cx="1874520" cy="2651760"/>
          </a:xfrm>
          <a:prstGeom prst="rect">
            <a:avLst/>
          </a:prstGeom>
          <a:solidFill>
            <a:srgbClr val="141A35"/>
          </a:solidFill>
          <a:ln w="25400">
            <a:solidFill>
              <a:srgbClr val="10B981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640580" y="1188720"/>
            <a:ext cx="1874520" cy="11887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732020" y="1371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732020" y="199339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 + Slash Commands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823460" y="3017520"/>
            <a:ext cx="150876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32020" y="3127248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Codex connects to your tools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652260" y="1188720"/>
            <a:ext cx="1874520" cy="2651760"/>
          </a:xfrm>
          <a:prstGeom prst="rect">
            <a:avLst/>
          </a:prstGeom>
          <a:solidFill>
            <a:srgbClr val="141A35"/>
          </a:solidFill>
          <a:ln w="25400">
            <a:solidFill>
              <a:srgbClr val="00C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652260" y="1188720"/>
            <a:ext cx="1874520" cy="118872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743700" y="1371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C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743700" y="199339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 Demo: Retail Data Warehouse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835140" y="3017520"/>
            <a:ext cx="1508760" cy="36576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743700" y="3127248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to docs in minutes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2104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This Matters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097280" cy="50292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374904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64008" cy="3886200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Current Challenge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5361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spend valuable time on: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901952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breakdown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Boilerplate coding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decisions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34840" y="960120"/>
            <a:ext cx="429768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434840" y="960120"/>
            <a:ext cx="64008" cy="3886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663440" y="10515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Message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63440" y="153619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can help beyond code suggestions.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2011680"/>
            <a:ext cx="3931920" cy="45720"/>
          </a:xfrm>
          <a:prstGeom prst="rect">
            <a:avLst/>
          </a:prstGeom>
          <a:solidFill>
            <a:srgbClr val="DDE4EE"/>
          </a:solidFill>
          <a:ln w="12700">
            <a:solidFill>
              <a:srgbClr val="DDE4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663440" y="219456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next evolution of AI is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engineering agents.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63440" y="315468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suggesting code — planning, building, and documenting entire features autonomously.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32104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Evolution of AI Development Tools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097280" cy="50292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85800" y="1188720"/>
            <a:ext cx="2286000" cy="2651760"/>
          </a:xfrm>
          <a:prstGeom prst="rect">
            <a:avLst/>
          </a:prstGeom>
          <a:solidFill>
            <a:srgbClr val="141A35"/>
          </a:solidFill>
          <a:ln w="25400">
            <a:solidFill>
              <a:srgbClr val="546E7A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85800" y="1188720"/>
            <a:ext cx="2286000" cy="118872"/>
          </a:xfrm>
          <a:prstGeom prst="rect">
            <a:avLst/>
          </a:prstGeom>
          <a:solidFill>
            <a:srgbClr val="546E7A"/>
          </a:solidFill>
          <a:ln w="1270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" y="138988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7830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Chat AI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26517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063240" y="2514600"/>
            <a:ext cx="411480" cy="0"/>
          </a:xfrm>
          <a:prstGeom prst="line">
            <a:avLst/>
          </a:prstGeom>
          <a:noFill/>
          <a:ln w="25400">
            <a:solidFill>
              <a:srgbClr val="546E7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310128" y="23317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</a:rPr>
              <a:t>▶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566160" y="1188720"/>
            <a:ext cx="2286000" cy="2651760"/>
          </a:xfrm>
          <a:prstGeom prst="rect">
            <a:avLst/>
          </a:prstGeom>
          <a:solidFill>
            <a:srgbClr val="141A35"/>
          </a:solidFill>
          <a:ln w="25400">
            <a:solidFill>
              <a:srgbClr val="5C6BC0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566160" y="1188720"/>
            <a:ext cx="2286000" cy="118872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657600" y="138988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0" y="17830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Coding Assistants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57600" y="26517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43600" y="2514600"/>
            <a:ext cx="411480" cy="0"/>
          </a:xfrm>
          <a:prstGeom prst="line">
            <a:avLst/>
          </a:prstGeom>
          <a:noFill/>
          <a:ln w="25400">
            <a:solidFill>
              <a:srgbClr val="546E7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190488" y="23317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</a:rPr>
              <a:t>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46520" y="1188720"/>
            <a:ext cx="2286000" cy="2651760"/>
          </a:xfrm>
          <a:prstGeom prst="rect">
            <a:avLst/>
          </a:prstGeom>
          <a:solidFill>
            <a:srgbClr val="141A35"/>
          </a:solidFill>
          <a:ln w="25400">
            <a:solidFill>
              <a:srgbClr val="00C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446520" y="1188720"/>
            <a:ext cx="2286000" cy="118872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537960" y="138988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C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37960" y="17830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Engineering Agents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537960" y="26517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C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40233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unlocks new levels of AI-powered productivity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32104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Tool Comparison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097280" cy="50292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2918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Tool</a:t>
                      </a:r>
                      <a:endParaRPr lang="en-US" sz="14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Role</a:t>
                      </a:r>
                      <a:endParaRPr lang="en-US" sz="14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Capability</a:t>
                      </a:r>
                      <a:endParaRPr lang="en-US" sz="14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ChatGPT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Reasoning &amp; Discussion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546E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Q&amp;A, explanations, brainstorming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Copilot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Completion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546E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Inline suggestions, autocomplete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Codex</a:t>
                      </a:r>
                      <a:endParaRPr lang="en-US" sz="14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C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Autonomous Dev Agent</a:t>
                      </a:r>
                      <a:endParaRPr lang="en-US" sz="13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C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→ Break down → Code → Document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C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can plan → break down work → generate code → generate documentation</a:t>
            </a:r>
            <a:endParaRPr lang="en-US" sz="1300" dirty="0"/>
          </a:p>
        </p:txBody>
      </p:sp>
      <p:sp>
        <p:nvSpPr>
          <p:cNvPr id="4" name="Text 3"/>
          <p:cNvSpPr/>
          <p:nvPr/>
        </p:nvSpPr>
        <p:spPr>
          <a:xfrm>
            <a:off x="832104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Traditional Development Workflow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097280" cy="50292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1417320" cy="420624"/>
          </a:xfrm>
          <a:prstGeom prst="rect">
            <a:avLst/>
          </a:prstGeom>
          <a:solidFill>
            <a:srgbClr val="1B3A6B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11480" y="100584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11480" y="1408176"/>
            <a:ext cx="1417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90D9"/>
                </a:solidFill>
              </a:rPr>
              <a:t>↓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508760"/>
            <a:ext cx="1417320" cy="420624"/>
          </a:xfrm>
          <a:prstGeom prst="rect">
            <a:avLst/>
          </a:prstGeom>
          <a:solidFill>
            <a:srgbClr val="1B3A6B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150876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1911096"/>
            <a:ext cx="1417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90D9"/>
                </a:solidFill>
              </a:rPr>
              <a:t>↓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2011680"/>
            <a:ext cx="1417320" cy="420624"/>
          </a:xfrm>
          <a:prstGeom prst="rect">
            <a:avLst/>
          </a:prstGeom>
          <a:solidFill>
            <a:srgbClr val="1B3A6B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11480" y="201168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2414016"/>
            <a:ext cx="1417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90D9"/>
                </a:solidFill>
              </a:rPr>
              <a:t>↓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11480" y="2514600"/>
            <a:ext cx="1417320" cy="420624"/>
          </a:xfrm>
          <a:prstGeom prst="rect">
            <a:avLst/>
          </a:prstGeom>
          <a:solidFill>
            <a:srgbClr val="1B3A6B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11480" y="251460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11480" y="2916936"/>
            <a:ext cx="1417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90D9"/>
                </a:solidFill>
              </a:rPr>
              <a:t>↓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1480" y="3017520"/>
            <a:ext cx="1417320" cy="420624"/>
          </a:xfrm>
          <a:prstGeom prst="rect">
            <a:avLst/>
          </a:prstGeom>
          <a:solidFill>
            <a:srgbClr val="1B3A6B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11480" y="301752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11480" y="3419856"/>
            <a:ext cx="1417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90D9"/>
                </a:solidFill>
              </a:rPr>
              <a:t>↓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1480" y="3520440"/>
            <a:ext cx="1417320" cy="420624"/>
          </a:xfrm>
          <a:prstGeom prst="rect">
            <a:avLst/>
          </a:prstGeom>
          <a:solidFill>
            <a:srgbClr val="1B3A6B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11480" y="352044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" y="3922776"/>
            <a:ext cx="1417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90D9"/>
                </a:solidFill>
              </a:rPr>
              <a:t>↓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11480" y="4023360"/>
            <a:ext cx="1417320" cy="420624"/>
          </a:xfrm>
          <a:prstGeom prst="rect">
            <a:avLst/>
          </a:prstGeom>
          <a:solidFill>
            <a:srgbClr val="1B3A6B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11480" y="402336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103120" y="960120"/>
            <a:ext cx="67208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331720" y="1051560"/>
            <a:ext cx="6263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Pain Points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2331720" y="1600200"/>
            <a:ext cx="6263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requires manual context switching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must maintain full mental model throughout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often skipped or out of date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breakdown is time-consuming but critical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decisions made without full context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32104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Agent-First Development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097280" cy="50292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84048" y="667512"/>
            <a:ext cx="1828800" cy="256032"/>
          </a:xfrm>
          <a:prstGeom prst="rect">
            <a:avLst/>
          </a:prstGeom>
          <a:solidFill>
            <a:srgbClr val="1A2E50"/>
          </a:solidFill>
          <a:ln w="12700">
            <a:solidFill>
              <a:srgbClr val="1A2E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84048" y="6675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C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Generates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651760" y="667512"/>
            <a:ext cx="1828800" cy="256032"/>
          </a:xfrm>
          <a:prstGeom prst="rect">
            <a:avLst/>
          </a:prstGeom>
          <a:solidFill>
            <a:srgbClr val="0D3325"/>
          </a:solidFill>
          <a:ln w="12700">
            <a:solidFill>
              <a:srgbClr val="0D33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651760" y="6675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Approves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84048" y="960120"/>
            <a:ext cx="4096512" cy="402336"/>
          </a:xfrm>
          <a:prstGeom prst="rect">
            <a:avLst/>
          </a:prstGeom>
          <a:solidFill>
            <a:srgbClr val="546E7A"/>
          </a:solidFill>
          <a:ln w="1270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84048" y="960120"/>
            <a:ext cx="40965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84048" y="1362456"/>
            <a:ext cx="409651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</a:rPr>
              <a:t>↓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84048" y="1472184"/>
            <a:ext cx="1828800" cy="402336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84048" y="147218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Generate Plan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31136" y="1472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</a:rPr>
              <a:t>→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651760" y="1472184"/>
            <a:ext cx="1828800" cy="40233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651760" y="147218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Human: Approve Plan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84048" y="1874520"/>
            <a:ext cx="1828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</a:rPr>
              <a:t>↓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84048" y="1984248"/>
            <a:ext cx="1828800" cy="402336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84048" y="198424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User Stories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231136" y="1984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651760" y="1984248"/>
            <a:ext cx="1828800" cy="40233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651760" y="198424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Human: Approve Stories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84048" y="2386584"/>
            <a:ext cx="1828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</a:rPr>
              <a:t>↓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84048" y="2496312"/>
            <a:ext cx="1828800" cy="402336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84048" y="2496312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Tasks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31136" y="2496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</a:rPr>
              <a:t>→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51760" y="2496312"/>
            <a:ext cx="1828800" cy="40233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651760" y="2496312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Human: Approve Tasks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84048" y="2898648"/>
            <a:ext cx="1828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</a:rPr>
              <a:t>↓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84048" y="3008376"/>
            <a:ext cx="1828800" cy="402336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84048" y="300837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Code + Raise PR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231136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</a:rPr>
              <a:t>→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651760" y="3008376"/>
            <a:ext cx="1828800" cy="40233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2651760" y="300837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Human: Approve PR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84048" y="3410712"/>
            <a:ext cx="1828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</a:rPr>
              <a:t>↓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84048" y="3520440"/>
            <a:ext cx="1828800" cy="402336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84048" y="35204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Documentation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231136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</a:rPr>
              <a:t>→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51760" y="3520440"/>
            <a:ext cx="1828800" cy="40233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2651760" y="35204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Human: Approve Docs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84048" y="3922776"/>
            <a:ext cx="409651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</a:rPr>
              <a:t>↓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84048" y="4032504"/>
            <a:ext cx="4096512" cy="402336"/>
          </a:xfrm>
          <a:prstGeom prst="rect">
            <a:avLst/>
          </a:prstGeom>
          <a:solidFill>
            <a:srgbClr val="1C1917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384048" y="4032504"/>
            <a:ext cx="40965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 —  Automated DevOps Pipeline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663440" y="960120"/>
            <a:ext cx="4069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4663440" y="960120"/>
            <a:ext cx="64008" cy="914400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4892040" y="1033272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Principle: Human-in-the-Loop at Every Stage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4892040" y="152704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generates, humans approve — at every checkpoint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663440" y="1965960"/>
            <a:ext cx="40690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4663440" y="1965960"/>
            <a:ext cx="64008" cy="896112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892040" y="2057400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Generates Everything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4892040" y="245059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Plan, stories, tasks, code and PR — all created by the agent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663440" y="2953512"/>
            <a:ext cx="40690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4663440" y="2953512"/>
            <a:ext cx="64008" cy="89611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4892040" y="3044952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Human Gate at Each Step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4892040" y="3438144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phase proceeds without explicit human sign-off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4663440" y="3941064"/>
            <a:ext cx="40690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4663440" y="3941064"/>
            <a:ext cx="64008" cy="896112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4892040" y="4032504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Full Traceability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4892040" y="4425696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approval is logged — complete audit trail from req to deploy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832104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Plan Mode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097280" cy="50292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356616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Plan Mode Works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AI understands the project context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Creates a structured, detailed plan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Waits for your approval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Then generates code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35661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C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 before any code is generated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51960" y="1005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Command: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51960" y="1325880"/>
            <a:ext cx="4572000" cy="594360"/>
          </a:xfrm>
          <a:prstGeom prst="rect">
            <a:avLst/>
          </a:prstGeom>
          <a:solidFill>
            <a:srgbClr val="1E2A3A"/>
          </a:solidFill>
          <a:ln w="12700">
            <a:solidFill>
              <a:srgbClr val="00C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416552" y="1417320"/>
            <a:ext cx="4242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/plan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251960" y="2057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Output: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51960" y="2377440"/>
            <a:ext cx="4572000" cy="2331720"/>
          </a:xfrm>
          <a:prstGeom prst="rect">
            <a:avLst/>
          </a:prstGeom>
          <a:solidFill>
            <a:srgbClr val="1E2A3A"/>
          </a:solidFill>
          <a:ln w="12700">
            <a:solidFill>
              <a:srgbClr val="00C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416552" y="2468880"/>
            <a:ext cx="4242816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 Define architecture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 Identify dimensions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 Define fact tables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 Create SQL schema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 Generate documentation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2104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 Servers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097280" cy="50292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987552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1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 = Model Context Protocol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146304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Allows AI to interact with external tools and systems — Codex becomes a tool-using agent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1965960"/>
            <a:ext cx="2697480" cy="12527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965960"/>
            <a:ext cx="64008" cy="1252728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94360" y="2093976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SQL Databases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25603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and query databases directly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1965960"/>
            <a:ext cx="2697480" cy="12527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91840" y="1965960"/>
            <a:ext cx="64008" cy="1252728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474720" y="2093976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Git Repositories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74720" y="25603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and commit to version control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72200" y="1965960"/>
            <a:ext cx="2697480" cy="12527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172200" y="1965960"/>
            <a:ext cx="64008" cy="1252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355080" y="2093976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REST APIs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55080" y="25603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with any web service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11480" y="3355848"/>
            <a:ext cx="2697480" cy="12527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11480" y="3355848"/>
            <a:ext cx="64008" cy="1252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94360" y="3483864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Documentation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39502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write technical docs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91840" y="3355848"/>
            <a:ext cx="2697480" cy="12527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291840" y="3355848"/>
            <a:ext cx="64008" cy="125272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474720" y="3483864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CI/CD Pipelines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474720" y="39502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builds and deployments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72200" y="3355848"/>
            <a:ext cx="2697480" cy="12527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172200" y="3355848"/>
            <a:ext cx="64008" cy="125272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355080" y="3483864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File Systems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355080" y="39502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Read, write, and organize files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32104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Are Slash Commands?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097280" cy="50292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64008" cy="1143000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078992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Slash commands are shortcuts that trigger predefined AI behaviors — type a / command and Codex executes a specific workflow instantly.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228600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Built-in Default Commands: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697480"/>
            <a:ext cx="4069080" cy="411480"/>
          </a:xfrm>
          <a:prstGeom prst="rect">
            <a:avLst/>
          </a:prstGeom>
          <a:solidFill>
            <a:srgbClr val="141A35"/>
          </a:solidFill>
          <a:ln w="1270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11480" y="2697480"/>
            <a:ext cx="1234440" cy="411480"/>
          </a:xfrm>
          <a:prstGeom prst="rect">
            <a:avLst/>
          </a:prstGeom>
          <a:solidFill>
            <a:srgbClr val="1A2E50"/>
          </a:solidFill>
          <a:ln w="12700">
            <a:solidFill>
              <a:srgbClr val="1A2E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" y="2724912"/>
            <a:ext cx="11155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/help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737360" y="2734056"/>
            <a:ext cx="26517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all available commands and usage instructions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0" y="2697480"/>
            <a:ext cx="4069080" cy="411480"/>
          </a:xfrm>
          <a:prstGeom prst="rect">
            <a:avLst/>
          </a:prstGeom>
          <a:solidFill>
            <a:srgbClr val="141A35"/>
          </a:solidFill>
          <a:ln w="1270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0" y="2697480"/>
            <a:ext cx="1234440" cy="411480"/>
          </a:xfrm>
          <a:prstGeom prst="rect">
            <a:avLst/>
          </a:prstGeom>
          <a:solidFill>
            <a:srgbClr val="1A2E50"/>
          </a:solidFill>
          <a:ln w="12700">
            <a:solidFill>
              <a:srgbClr val="1A2E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645152" y="2724912"/>
            <a:ext cx="11155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/plan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897880" y="2734056"/>
            <a:ext cx="26517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plan mode — AI creates a structured plan before coding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3182112"/>
            <a:ext cx="4069080" cy="411480"/>
          </a:xfrm>
          <a:prstGeom prst="rect">
            <a:avLst/>
          </a:prstGeom>
          <a:solidFill>
            <a:srgbClr val="141A35"/>
          </a:solidFill>
          <a:ln w="1270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11480" y="3182112"/>
            <a:ext cx="1234440" cy="411480"/>
          </a:xfrm>
          <a:prstGeom prst="rect">
            <a:avLst/>
          </a:prstGeom>
          <a:solidFill>
            <a:srgbClr val="1A2E50"/>
          </a:solidFill>
          <a:ln w="12700">
            <a:solidFill>
              <a:srgbClr val="1A2E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4632" y="3209544"/>
            <a:ext cx="11155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/init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737360" y="3218688"/>
            <a:ext cx="26517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Initialize a new project and set up the workspace context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0" y="3182112"/>
            <a:ext cx="4069080" cy="411480"/>
          </a:xfrm>
          <a:prstGeom prst="rect">
            <a:avLst/>
          </a:prstGeom>
          <a:solidFill>
            <a:srgbClr val="141A35"/>
          </a:solidFill>
          <a:ln w="1270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572000" y="3182112"/>
            <a:ext cx="1234440" cy="411480"/>
          </a:xfrm>
          <a:prstGeom prst="rect">
            <a:avLst/>
          </a:prstGeom>
          <a:solidFill>
            <a:srgbClr val="1A2E50"/>
          </a:solidFill>
          <a:ln w="12700">
            <a:solidFill>
              <a:srgbClr val="1A2E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645152" y="3209544"/>
            <a:ext cx="11155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/clear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897880" y="3218688"/>
            <a:ext cx="26517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current conversation and context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11480" y="3666744"/>
            <a:ext cx="4069080" cy="411480"/>
          </a:xfrm>
          <a:prstGeom prst="rect">
            <a:avLst/>
          </a:prstGeom>
          <a:solidFill>
            <a:srgbClr val="141A35"/>
          </a:solidFill>
          <a:ln w="1270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11480" y="3666744"/>
            <a:ext cx="1234440" cy="411480"/>
          </a:xfrm>
          <a:prstGeom prst="rect">
            <a:avLst/>
          </a:prstGeom>
          <a:solidFill>
            <a:srgbClr val="1A2E50"/>
          </a:solidFill>
          <a:ln w="12700">
            <a:solidFill>
              <a:srgbClr val="1A2E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84632" y="3694176"/>
            <a:ext cx="11155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/compact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737360" y="3703320"/>
            <a:ext cx="26517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and compress the conversation to save context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0" y="3666744"/>
            <a:ext cx="4069080" cy="411480"/>
          </a:xfrm>
          <a:prstGeom prst="rect">
            <a:avLst/>
          </a:prstGeom>
          <a:solidFill>
            <a:srgbClr val="141A35"/>
          </a:solidFill>
          <a:ln w="1270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572000" y="3666744"/>
            <a:ext cx="1234440" cy="411480"/>
          </a:xfrm>
          <a:prstGeom prst="rect">
            <a:avLst/>
          </a:prstGeom>
          <a:solidFill>
            <a:srgbClr val="1A2E50"/>
          </a:solidFill>
          <a:ln w="12700">
            <a:solidFill>
              <a:srgbClr val="1A2E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645152" y="3694176"/>
            <a:ext cx="11155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/review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897880" y="3703320"/>
            <a:ext cx="26517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recent code changes and suggest improvements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11480" y="4151376"/>
            <a:ext cx="4069080" cy="411480"/>
          </a:xfrm>
          <a:prstGeom prst="rect">
            <a:avLst/>
          </a:prstGeom>
          <a:solidFill>
            <a:srgbClr val="141A35"/>
          </a:solidFill>
          <a:ln w="1270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11480" y="4151376"/>
            <a:ext cx="1234440" cy="411480"/>
          </a:xfrm>
          <a:prstGeom prst="rect">
            <a:avLst/>
          </a:prstGeom>
          <a:solidFill>
            <a:srgbClr val="1A2E50"/>
          </a:solidFill>
          <a:ln w="12700">
            <a:solidFill>
              <a:srgbClr val="1A2E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84632" y="4178808"/>
            <a:ext cx="11155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/commit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737360" y="4187952"/>
            <a:ext cx="26517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commit message and commit staged changes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0" y="4151376"/>
            <a:ext cx="4069080" cy="411480"/>
          </a:xfrm>
          <a:prstGeom prst="rect">
            <a:avLst/>
          </a:prstGeom>
          <a:solidFill>
            <a:srgbClr val="141A35"/>
          </a:solidFill>
          <a:ln w="1270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572000" y="4151376"/>
            <a:ext cx="1234440" cy="411480"/>
          </a:xfrm>
          <a:prstGeom prst="rect">
            <a:avLst/>
          </a:prstGeom>
          <a:solidFill>
            <a:srgbClr val="1A2E50"/>
          </a:solidFill>
          <a:ln w="12700">
            <a:solidFill>
              <a:srgbClr val="1A2E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645152" y="4178808"/>
            <a:ext cx="11155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/doctor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897880" y="4187952"/>
            <a:ext cx="26517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environment health, dependencies, and config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11480" y="480060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0C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slash commands extend this further — tailored to your own workflows and team standards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32104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Custom Slash Commands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097280" cy="50292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10058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long, complex prompts: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3931920" cy="1691640"/>
          </a:xfrm>
          <a:prstGeom prst="rect">
            <a:avLst/>
          </a:prstGeom>
          <a:solidFill>
            <a:srgbClr val="1E2A3A"/>
          </a:solidFill>
          <a:ln w="12700">
            <a:solidFill>
              <a:srgbClr val="00C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76072" y="1417320"/>
            <a:ext cx="360273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a data warehouse project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generate user stories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 them into tasks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generate SQL schema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documentation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434840" y="196596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C8F0"/>
                </a:solidFill>
              </a:rPr>
              <a:t>→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983480" y="10058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simply run: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983480" y="1325880"/>
            <a:ext cx="3749040" cy="658368"/>
          </a:xfrm>
          <a:prstGeom prst="rect">
            <a:avLst/>
          </a:prstGeom>
          <a:solidFill>
            <a:srgbClr val="1E2A3A"/>
          </a:solidFill>
          <a:ln w="12700">
            <a:solidFill>
              <a:srgbClr val="00C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148072" y="1417320"/>
            <a:ext cx="34198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/retail-dw-workflow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83480" y="21031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Benefits: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983480" y="246888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automation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development workflows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project scaffolding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Team-wide consistency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32104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Demo: Retail Store Data Warehouse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097280" cy="50292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370332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64008" cy="388620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Demo Overview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947672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MSSQL (Microsoft SQL Server)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AI Agent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880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2004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 analytics-ready star schema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730752"/>
            <a:ext cx="2926080" cy="36576"/>
          </a:xfrm>
          <a:prstGeom prst="rect">
            <a:avLst/>
          </a:prstGeom>
          <a:solidFill>
            <a:srgbClr val="DDE4EE"/>
          </a:solidFill>
          <a:ln w="12700">
            <a:solidFill>
              <a:srgbClr val="DDE4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3822192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see: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41148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the schema with AI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user stories &amp; tasks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SQL scripts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documentation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89120" y="960120"/>
            <a:ext cx="434340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389120" y="960120"/>
            <a:ext cx="64008" cy="3886200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617720" y="105156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 Sources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81728" y="1719072"/>
            <a:ext cx="292608" cy="292608"/>
          </a:xfrm>
          <a:prstGeom prst="ellipse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102352" y="164592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102352" y="19842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demographics &amp; profiles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81728" y="2478024"/>
            <a:ext cx="292608" cy="292608"/>
          </a:xfrm>
          <a:prstGeom prst="ellipse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102352" y="240487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102352" y="27432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catalog &amp; categories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81728" y="3236976"/>
            <a:ext cx="292608" cy="292608"/>
          </a:xfrm>
          <a:prstGeom prst="ellipse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102352" y="316382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102352" y="350215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locations &amp; attributes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81728" y="3995928"/>
            <a:ext cx="292608" cy="292608"/>
          </a:xfrm>
          <a:prstGeom prst="ellipse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102352" y="392277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102352" y="426110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data &amp; metrics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32104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Demo Workflow Overview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097280" cy="50292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48056" y="1280160"/>
            <a:ext cx="1554480" cy="2103120"/>
          </a:xfrm>
          <a:prstGeom prst="rect">
            <a:avLst/>
          </a:prstGeom>
          <a:solidFill>
            <a:srgbClr val="1B3A6B"/>
          </a:solidFill>
          <a:ln w="12700">
            <a:solidFill>
              <a:srgbClr val="4A90D9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48056" y="14173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30936" y="1901952"/>
            <a:ext cx="1188720" cy="36576"/>
          </a:xfrm>
          <a:prstGeom prst="rect">
            <a:avLst/>
          </a:prstGeom>
          <a:solidFill>
            <a:srgbClr val="2A4A8B"/>
          </a:solidFill>
          <a:ln w="12700">
            <a:solidFill>
              <a:srgbClr val="2A4A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48056" y="202996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Requirement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39496" y="28529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what to build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9496" y="30632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02536" y="2331720"/>
            <a:ext cx="118872" cy="0"/>
          </a:xfrm>
          <a:prstGeom prst="line">
            <a:avLst/>
          </a:prstGeom>
          <a:noFill/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121408" y="1280160"/>
            <a:ext cx="1554480" cy="2103120"/>
          </a:xfrm>
          <a:prstGeom prst="rect">
            <a:avLst/>
          </a:prstGeom>
          <a:solidFill>
            <a:srgbClr val="00C8F0"/>
          </a:solidFill>
          <a:ln w="254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121408" y="14173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304288" y="1901952"/>
            <a:ext cx="1188720" cy="36576"/>
          </a:xfrm>
          <a:prstGeom prst="rect">
            <a:avLst/>
          </a:prstGeom>
          <a:solidFill>
            <a:srgbClr val="08112A"/>
          </a:solidFill>
          <a:ln w="12700">
            <a:solidFill>
              <a:srgbClr val="0811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121408" y="202996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Plan Mode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212848" y="2679192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creates a structured plan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212848" y="30632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75888" y="2331720"/>
            <a:ext cx="118872" cy="0"/>
          </a:xfrm>
          <a:prstGeom prst="line">
            <a:avLst/>
          </a:prstGeom>
          <a:noFill/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794760" y="1280160"/>
            <a:ext cx="1554480" cy="2103120"/>
          </a:xfrm>
          <a:prstGeom prst="rect">
            <a:avLst/>
          </a:prstGeom>
          <a:solidFill>
            <a:srgbClr val="00C8F0"/>
          </a:solidFill>
          <a:ln w="254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794760" y="14173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3977640" y="1901952"/>
            <a:ext cx="1188720" cy="36576"/>
          </a:xfrm>
          <a:prstGeom prst="rect">
            <a:avLst/>
          </a:prstGeom>
          <a:solidFill>
            <a:srgbClr val="08112A"/>
          </a:solidFill>
          <a:ln w="12700">
            <a:solidFill>
              <a:srgbClr val="0811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794760" y="202996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Stories &amp; Tasks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886200" y="28529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into dev work items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886200" y="30632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349240" y="2331720"/>
            <a:ext cx="118872" cy="0"/>
          </a:xfrm>
          <a:prstGeom prst="line">
            <a:avLst/>
          </a:prstGeom>
          <a:noFill/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468112" y="1280160"/>
            <a:ext cx="1554480" cy="2103120"/>
          </a:xfrm>
          <a:prstGeom prst="rect">
            <a:avLst/>
          </a:prstGeom>
          <a:solidFill>
            <a:srgbClr val="00C8F0"/>
          </a:solidFill>
          <a:ln w="254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468112" y="14173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5650992" y="1901952"/>
            <a:ext cx="1188720" cy="36576"/>
          </a:xfrm>
          <a:prstGeom prst="rect">
            <a:avLst/>
          </a:prstGeom>
          <a:solidFill>
            <a:srgbClr val="08112A"/>
          </a:solidFill>
          <a:ln w="12700">
            <a:solidFill>
              <a:srgbClr val="0811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468112" y="202996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SQL Generation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559552" y="28529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schema &amp; ETL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559552" y="30632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022592" y="2331720"/>
            <a:ext cx="118872" cy="0"/>
          </a:xfrm>
          <a:prstGeom prst="line">
            <a:avLst/>
          </a:prstGeom>
          <a:noFill/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7141464" y="1280160"/>
            <a:ext cx="1554480" cy="2103120"/>
          </a:xfrm>
          <a:prstGeom prst="rect">
            <a:avLst/>
          </a:prstGeom>
          <a:solidFill>
            <a:srgbClr val="00C8F0"/>
          </a:solidFill>
          <a:ln w="254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141464" y="14173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7324344" y="1901952"/>
            <a:ext cx="1188720" cy="36576"/>
          </a:xfrm>
          <a:prstGeom prst="rect">
            <a:avLst/>
          </a:prstGeom>
          <a:solidFill>
            <a:srgbClr val="08112A"/>
          </a:solidFill>
          <a:ln w="12700">
            <a:solidFill>
              <a:srgbClr val="0811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7141464" y="202996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Documentation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232904" y="28529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technical docs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232904" y="30632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57200" y="354787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audience will see — from requirement to full documentation in minutes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457200" y="39502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C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2–5 are fully AI-generated — you provide the requirement, Codex does the rest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32104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1: Define the Requirement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097280" cy="50292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987552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Prompt: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8321040" cy="2926080"/>
          </a:xfrm>
          <a:prstGeom prst="rect">
            <a:avLst/>
          </a:prstGeom>
          <a:solidFill>
            <a:srgbClr val="1E2A3A"/>
          </a:solidFill>
          <a:ln w="12700">
            <a:solidFill>
              <a:srgbClr val="00C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76072" y="1417320"/>
            <a:ext cx="799185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a retail data warehouse using MSSQL.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Entities: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Customers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Products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Stores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Sales Transactions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 star schema optimized for analytics.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438912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00C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Clear, structured requirements enable AI to generate accurate plans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32104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2: Run Plan Mode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097280" cy="50292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1005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560320" cy="621792"/>
          </a:xfrm>
          <a:prstGeom prst="rect">
            <a:avLst/>
          </a:prstGeom>
          <a:solidFill>
            <a:srgbClr val="1E2A3A"/>
          </a:solidFill>
          <a:ln w="12700">
            <a:solidFill>
              <a:srgbClr val="00C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76072" y="1417320"/>
            <a:ext cx="22311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/plan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246120" y="1005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Output: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325880"/>
            <a:ext cx="5486400" cy="2011680"/>
          </a:xfrm>
          <a:prstGeom prst="rect">
            <a:avLst/>
          </a:prstGeom>
          <a:solidFill>
            <a:srgbClr val="1E2A3A"/>
          </a:solidFill>
          <a:ln w="12700">
            <a:solidFill>
              <a:srgbClr val="00C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410712" y="1417320"/>
            <a:ext cx="515721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 Define star schema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 Create dimension tables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 Define fact sales table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 Generate SQL scripts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 Generate documentation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3154680"/>
            <a:ext cx="25603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3246120"/>
            <a:ext cx="2331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Plans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Before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Coding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246120" y="3154680"/>
            <a:ext cx="54864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46120" y="3154680"/>
            <a:ext cx="64008" cy="1645920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474720" y="3337560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is transparent, reviewable, and editable before any code is written. This is the human-in-the-loop checkpoint — the key differentiator of agent-first development.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32104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21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3: Generate Stories &amp; Tasks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097280" cy="50292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98755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07592"/>
            <a:ext cx="3840480" cy="841248"/>
          </a:xfrm>
          <a:prstGeom prst="rect">
            <a:avLst/>
          </a:prstGeom>
          <a:solidFill>
            <a:srgbClr val="1E2A3A"/>
          </a:solidFill>
          <a:ln w="12700">
            <a:solidFill>
              <a:srgbClr val="00C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76072" y="1399032"/>
            <a:ext cx="35112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/generate-user-stories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/create-tasks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26280" y="98755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Story Output: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26280" y="1307592"/>
            <a:ext cx="4206240" cy="1417320"/>
          </a:xfrm>
          <a:prstGeom prst="rect">
            <a:avLst/>
          </a:prstGeom>
          <a:solidFill>
            <a:srgbClr val="1E2A3A"/>
          </a:solidFill>
          <a:ln w="12700">
            <a:solidFill>
              <a:srgbClr val="00C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690872" y="1399032"/>
            <a:ext cx="38770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a data analyst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want a customer dimension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 that I can analyze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 behavior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2331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Tasks: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2697480"/>
            <a:ext cx="3840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11480" y="2697480"/>
            <a:ext cx="64008" cy="457200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2761488"/>
            <a:ext cx="3429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Create DimCustomer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1480" y="3227832"/>
            <a:ext cx="3840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11480" y="3227832"/>
            <a:ext cx="64008" cy="457200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" y="3291840"/>
            <a:ext cx="3429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Create DimProduct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11480" y="3758184"/>
            <a:ext cx="3840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11480" y="3758184"/>
            <a:ext cx="64008" cy="457200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3822192"/>
            <a:ext cx="3429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Create DimStore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11480" y="4288536"/>
            <a:ext cx="3840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11480" y="4288536"/>
            <a:ext cx="64008" cy="457200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40080" y="4352544"/>
            <a:ext cx="3429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Create FactSales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26280" y="2743200"/>
            <a:ext cx="42062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526280" y="2743200"/>
            <a:ext cx="64008" cy="21031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754880" y="28346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Structured for Sprints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754880" y="333756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 and tasks are generated in a format compatible with Jira, GitHub Issues, Azure DevOps, and other project management tools.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2104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21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4: Generate SQL Project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097280" cy="50292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98755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Command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4114800" cy="621792"/>
          </a:xfrm>
          <a:prstGeom prst="rect">
            <a:avLst/>
          </a:prstGeom>
          <a:solidFill>
            <a:srgbClr val="1E2A3A"/>
          </a:solidFill>
          <a:ln w="12700">
            <a:solidFill>
              <a:srgbClr val="00C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76072" y="1417320"/>
            <a:ext cx="3785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/generate-sql-project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800600" y="9875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Generated Output Files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00600" y="1325880"/>
            <a:ext cx="3931920" cy="530352"/>
          </a:xfrm>
          <a:prstGeom prst="rect">
            <a:avLst/>
          </a:prstGeom>
          <a:solidFill>
            <a:srgbClr val="1E2A3A"/>
          </a:solidFill>
          <a:ln w="12700">
            <a:solidFill>
              <a:srgbClr val="00C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965192" y="1417320"/>
            <a:ext cx="3602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schema.sql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00600" y="1947672"/>
            <a:ext cx="3931920" cy="530352"/>
          </a:xfrm>
          <a:prstGeom prst="rect">
            <a:avLst/>
          </a:prstGeom>
          <a:solidFill>
            <a:srgbClr val="1E2A3A"/>
          </a:solidFill>
          <a:ln w="12700">
            <a:solidFill>
              <a:srgbClr val="00C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965192" y="2039112"/>
            <a:ext cx="3602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tables.sql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800600" y="2569464"/>
            <a:ext cx="3931920" cy="530352"/>
          </a:xfrm>
          <a:prstGeom prst="rect">
            <a:avLst/>
          </a:prstGeom>
          <a:solidFill>
            <a:srgbClr val="1E2A3A"/>
          </a:solidFill>
          <a:ln w="12700">
            <a:solidFill>
              <a:srgbClr val="00C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965192" y="2660904"/>
            <a:ext cx="3602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indexes.sql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800600" y="3191256"/>
            <a:ext cx="3931920" cy="530352"/>
          </a:xfrm>
          <a:prstGeom prst="rect">
            <a:avLst/>
          </a:prstGeom>
          <a:solidFill>
            <a:srgbClr val="1E2A3A"/>
          </a:solidFill>
          <a:ln w="12700">
            <a:solidFill>
              <a:srgbClr val="00C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965192" y="3282696"/>
            <a:ext cx="3602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etl.sql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11480" y="2148840"/>
            <a:ext cx="41148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11480" y="2148840"/>
            <a:ext cx="64008" cy="566928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0080" y="2212848"/>
            <a:ext cx="3703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schema.sql  —  Database and schema definitions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2807208"/>
            <a:ext cx="41148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11480" y="2807208"/>
            <a:ext cx="64008" cy="566928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0080" y="2871216"/>
            <a:ext cx="3703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tables.sql  —  Dimension and fact table DDL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1480" y="3465576"/>
            <a:ext cx="41148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11480" y="3465576"/>
            <a:ext cx="64008" cy="566928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40080" y="3529584"/>
            <a:ext cx="3703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indexes.sql  —  Performance indexes for analytics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11480" y="4123944"/>
            <a:ext cx="41148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11480" y="4123944"/>
            <a:ext cx="64008" cy="566928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40080" y="4187952"/>
            <a:ext cx="3703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etl.sql  —  ETL stored procedures and pipelines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32104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21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Custom Slash Commands: Examples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097280" cy="50292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64008" cy="713232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75488" y="1024128"/>
            <a:ext cx="2468880" cy="576072"/>
          </a:xfrm>
          <a:prstGeom prst="rect">
            <a:avLst/>
          </a:prstGeom>
          <a:solidFill>
            <a:srgbClr val="1E2A3A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06070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/plan-project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090672" y="1078992"/>
            <a:ext cx="5440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requirements and create a structured development plan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1480" y="1764792"/>
            <a:ext cx="8321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11480" y="1764792"/>
            <a:ext cx="64008" cy="713232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5488" y="1828800"/>
            <a:ext cx="2468880" cy="576072"/>
          </a:xfrm>
          <a:prstGeom prst="rect">
            <a:avLst/>
          </a:prstGeom>
          <a:solidFill>
            <a:srgbClr val="1E2A3A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94360" y="186537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/generate-user-stories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090672" y="1883664"/>
            <a:ext cx="5440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requirements into formatted user stories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1480" y="2569464"/>
            <a:ext cx="8321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11480" y="2569464"/>
            <a:ext cx="64008" cy="713232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5488" y="2633472"/>
            <a:ext cx="2468880" cy="576072"/>
          </a:xfrm>
          <a:prstGeom prst="rect">
            <a:avLst/>
          </a:prstGeom>
          <a:solidFill>
            <a:srgbClr val="1E2A3A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94360" y="26700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/create-tasks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90672" y="2688336"/>
            <a:ext cx="5440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user stories into specific development tasks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11480" y="3374136"/>
            <a:ext cx="8321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11480" y="3374136"/>
            <a:ext cx="64008" cy="713232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75488" y="3438144"/>
            <a:ext cx="2468880" cy="576072"/>
          </a:xfrm>
          <a:prstGeom prst="rect">
            <a:avLst/>
          </a:prstGeom>
          <a:solidFill>
            <a:srgbClr val="1E2A3A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94360" y="34747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/generate-sql-project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090672" y="3493008"/>
            <a:ext cx="5440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complete SQL schema, tables, indexes and ETL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11480" y="4178808"/>
            <a:ext cx="8321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11480" y="4178808"/>
            <a:ext cx="64008" cy="713232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75488" y="4242816"/>
            <a:ext cx="2468880" cy="576072"/>
          </a:xfrm>
          <a:prstGeom prst="rect">
            <a:avLst/>
          </a:prstGeom>
          <a:solidFill>
            <a:srgbClr val="1E2A3A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4360" y="427939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/publish-docs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090672" y="4297680"/>
            <a:ext cx="5440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and publish technical documentation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32104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21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Full Workflow: One Command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097280" cy="50292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10058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Impressive Demo: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4114800" cy="713232"/>
          </a:xfrm>
          <a:prstGeom prst="rect">
            <a:avLst/>
          </a:prstGeom>
          <a:solidFill>
            <a:srgbClr val="1E2A3A"/>
          </a:solidFill>
          <a:ln w="12700">
            <a:solidFill>
              <a:srgbClr val="00C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76072" y="1417320"/>
            <a:ext cx="37856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/retail-dw-workflow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800600" y="10058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Internally runs: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00600" y="1325880"/>
            <a:ext cx="3931920" cy="2057400"/>
          </a:xfrm>
          <a:prstGeom prst="rect">
            <a:avLst/>
          </a:prstGeom>
          <a:solidFill>
            <a:srgbClr val="1E2A3A"/>
          </a:solidFill>
          <a:ln w="12700">
            <a:solidFill>
              <a:srgbClr val="00C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965192" y="1417320"/>
            <a:ext cx="360273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/plan-project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/generate-user-stories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/create-tasks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/generate-sql-project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/publish-docs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3200400"/>
            <a:ext cx="832104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11480" y="3200400"/>
            <a:ext cx="64008" cy="1627632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33101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command can scaffold an entire project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3858768"/>
            <a:ext cx="7863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slash commands bundle complex multi-step workflows into single, repeatable automation. Share across your team for standardized, consistent development at scale.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32104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21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2468880" cy="2971800"/>
          </a:xfrm>
          <a:prstGeom prst="rect">
            <a:avLst/>
          </a:prstGeom>
          <a:solidFill>
            <a:srgbClr val="141A35"/>
          </a:solidFill>
          <a:ln w="25400">
            <a:solidFill>
              <a:srgbClr val="546E7A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2468880" cy="118872"/>
          </a:xfrm>
          <a:prstGeom prst="rect">
            <a:avLst/>
          </a:prstGeom>
          <a:solidFill>
            <a:srgbClr val="546E7A"/>
          </a:solidFill>
          <a:ln w="1270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34416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46E7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ChatGPT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2560320"/>
            <a:ext cx="2011680" cy="36576"/>
          </a:xfrm>
          <a:prstGeom prst="rect">
            <a:avLst/>
          </a:prstGeom>
          <a:solidFill>
            <a:srgbClr val="546E7A"/>
          </a:solidFill>
          <a:ln w="1270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715768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Q&amp;A, reasoning, brainstorming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962656" y="251460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46E7A"/>
                </a:solidFill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37560" y="1143000"/>
            <a:ext cx="2468880" cy="2971800"/>
          </a:xfrm>
          <a:prstGeom prst="rect">
            <a:avLst/>
          </a:prstGeom>
          <a:solidFill>
            <a:srgbClr val="141A35"/>
          </a:solidFill>
          <a:ln w="25400">
            <a:solidFill>
              <a:srgbClr val="5C6BC0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337560" y="1143000"/>
            <a:ext cx="2468880" cy="118872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429000" y="134416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C6BC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Copilot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429000" y="2011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Completion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566160" y="2560320"/>
            <a:ext cx="2011680" cy="36576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429000" y="2715768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suggestions, autocomplete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843016" y="251460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46E7A"/>
                </a:solidFill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17920" y="1143000"/>
            <a:ext cx="2468880" cy="2971800"/>
          </a:xfrm>
          <a:prstGeom prst="rect">
            <a:avLst/>
          </a:prstGeom>
          <a:solidFill>
            <a:srgbClr val="141A35"/>
          </a:solidFill>
          <a:ln w="25400">
            <a:solidFill>
              <a:srgbClr val="00C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217920" y="1143000"/>
            <a:ext cx="2468880" cy="118872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309360" y="134416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C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Codex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309360" y="2011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Agent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46520" y="2560320"/>
            <a:ext cx="2011680" cy="36576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309360" y="2715768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just saw it: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→ Build → Document → Deploy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43891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00C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Future: AI agents integrated with development workflows, enterprise systems &amp; CI/CD pipelines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32104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21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81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00C8F0"/>
          </a:solidFill>
          <a:ln w="12700">
            <a:solidFill>
              <a:srgbClr val="00C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Q&amp;A</a:t>
            </a:r>
            <a:endParaRPr lang="en-US" sz="880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C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45262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AI Agent  •  Agent-First Software Development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1318</Words>
  <Application>Microsoft Macintosh PowerPoint</Application>
  <PresentationFormat>On-screen Show (16:9)</PresentationFormat>
  <Paragraphs>356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Arial Black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Codex AI Agent Demo</dc:title>
  <dc:subject>PptxGenJS Presentation</dc:subject>
  <dc:creator>PptxGenJS</dc:creator>
  <cp:lastModifiedBy>Srinath Jagarlamudi</cp:lastModifiedBy>
  <cp:revision>2</cp:revision>
  <dcterms:created xsi:type="dcterms:W3CDTF">2026-03-10T13:10:35Z</dcterms:created>
  <dcterms:modified xsi:type="dcterms:W3CDTF">2026-03-10T13:18:47Z</dcterms:modified>
</cp:coreProperties>
</file>